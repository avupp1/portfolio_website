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83" r:id="rId5"/>
    <p:sldId id="297" r:id="rId6"/>
    <p:sldId id="289" r:id="rId7"/>
    <p:sldId id="287" r:id="rId8"/>
    <p:sldId id="298" r:id="rId9"/>
    <p:sldId id="285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A2F"/>
    <a:srgbClr val="474134"/>
    <a:srgbClr val="554D3D"/>
    <a:srgbClr val="595515"/>
    <a:srgbClr val="5A532C"/>
    <a:srgbClr val="5B542C"/>
    <a:srgbClr val="59522B"/>
    <a:srgbClr val="5D562D"/>
    <a:srgbClr val="655D31"/>
    <a:srgbClr val="6B6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879" autoAdjust="0"/>
  </p:normalViewPr>
  <p:slideViewPr>
    <p:cSldViewPr snapToGrid="0" showGuides="1">
      <p:cViewPr>
        <p:scale>
          <a:sx n="69" d="100"/>
          <a:sy n="69" d="100"/>
        </p:scale>
        <p:origin x="1064" y="45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835" y="4006900"/>
            <a:ext cx="3398992" cy="1155801"/>
          </a:xfrm>
        </p:spPr>
        <p:txBody>
          <a:bodyPr/>
          <a:lstStyle/>
          <a:p>
            <a:r>
              <a:rPr lang="en-US" dirty="0"/>
              <a:t>E-Glass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913632" cy="530352"/>
          </a:xfrm>
        </p:spPr>
        <p:txBody>
          <a:bodyPr/>
          <a:lstStyle/>
          <a:p>
            <a:r>
              <a:rPr lang="en-US" dirty="0"/>
              <a:t>By Avanthika Vuppala</a:t>
            </a:r>
          </a:p>
          <a:p>
            <a:r>
              <a:rPr lang="en-US" dirty="0"/>
              <a:t>Aerospace Materials (14:650:449:90)</a:t>
            </a:r>
            <a:endParaRPr lang="en-US" b="1" dirty="0"/>
          </a:p>
          <a:p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FF03C74-CC9C-FC39-3A5B-87D3BB49425D}"/>
              </a:ext>
            </a:extLst>
          </p:cNvPr>
          <p:cNvSpPr txBox="1">
            <a:spLocks/>
          </p:cNvSpPr>
          <p:nvPr/>
        </p:nvSpPr>
        <p:spPr>
          <a:xfrm>
            <a:off x="738835" y="356616"/>
            <a:ext cx="9207259" cy="2386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Anisotropic Stiffness (HW 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A5160-18D3-8D9F-0D4F-B60D87C3142B}"/>
              </a:ext>
            </a:extLst>
          </p:cNvPr>
          <p:cNvSpPr txBox="1"/>
          <p:nvPr/>
        </p:nvSpPr>
        <p:spPr>
          <a:xfrm>
            <a:off x="9699956" y="0"/>
            <a:ext cx="2095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February 26, 2026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Dr. Mark Gurvich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CB32-C6FA-90F8-61D9-E9EF2DA7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7F57-8C83-DFD6-6F97-97738CCC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Content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65CF-775A-E499-15F6-AF2A86B0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57C3D6B2-F1EC-DAB3-D977-87123426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72AA6A01-1439-C4EA-C3AB-E936D532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3E4420-CE1E-7BD2-2E9B-8202B824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85634"/>
              </p:ext>
            </p:extLst>
          </p:nvPr>
        </p:nvGraphicFramePr>
        <p:xfrm>
          <a:off x="2821074" y="1366981"/>
          <a:ext cx="6682510" cy="4663044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3341255">
                  <a:extLst>
                    <a:ext uri="{9D8B030D-6E8A-4147-A177-3AD203B41FA5}">
                      <a16:colId xmlns:a16="http://schemas.microsoft.com/office/drawing/2014/main" val="4180799158"/>
                    </a:ext>
                  </a:extLst>
                </a:gridCol>
                <a:gridCol w="3341255">
                  <a:extLst>
                    <a:ext uri="{9D8B030D-6E8A-4147-A177-3AD203B41FA5}">
                      <a16:colId xmlns:a16="http://schemas.microsoft.com/office/drawing/2014/main" val="1224535312"/>
                    </a:ext>
                  </a:extLst>
                </a:gridCol>
              </a:tblGrid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hlinkClick r:id="" action="ppaction://hlinkshowjump?jump=firstslide"/>
                        </a:rPr>
                        <a:t>Title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910736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 action="ppaction://hlinksldjump"/>
                        </a:rPr>
                        <a:t>Content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96657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hlinkClick r:id="rId3" action="ppaction://hlinksldjump"/>
                        </a:rPr>
                        <a:t>Problem Statement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808245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4" action="ppaction://hlinksldjump"/>
                        </a:rPr>
                        <a:t>Input Data- Material: E-Glass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302609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5: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5" action="ppaction://hlinksldjump"/>
                        </a:rPr>
                        <a:t>Methods of Analysis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873606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6-12: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6" action="ppaction://hlinksldjump"/>
                        </a:rPr>
                        <a:t>Results of Analysis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736769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13: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7" action="ppaction://hlinksldjump"/>
                        </a:rPr>
                        <a:t>Conclusion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290617"/>
                  </a:ext>
                </a:extLst>
              </a:tr>
              <a:tr h="5638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Slide 14: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8" action="ppaction://hlinksldjump"/>
                        </a:rPr>
                        <a:t>Excel File Information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1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97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EB5D-C504-369F-0181-B4054907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1774" y="4378957"/>
            <a:ext cx="6740957" cy="1645920"/>
          </a:xfrm>
        </p:spPr>
        <p:txBody>
          <a:bodyPr/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CBDF-8587-28A0-CAD5-7A42FF72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889" y="1449428"/>
            <a:ext cx="8165592" cy="2193885"/>
          </a:xfrm>
        </p:spPr>
        <p:txBody>
          <a:bodyPr/>
          <a:lstStyle/>
          <a:p>
            <a:pPr algn="ctr"/>
            <a:r>
              <a:rPr lang="en-US" sz="3600" dirty="0"/>
              <a:t>Goal: Determine stresses and strains in global and material coordinates for a unidirectional composite lamina subjected to in-plane stresses at a given orientation θ.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41990-F92B-71BE-C206-FC1157F6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086353-5676-19E6-895A-6E5719BD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AC2FFE-50C5-9217-F17B-6F445151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355338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AFD3-F0EF-D088-D9F6-0111FE57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Input data -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Material: E-Glass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02D71-F202-B767-2704-F4AC06C5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618182-3EDE-582C-BA8D-19564BEF3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127278"/>
              </p:ext>
            </p:extLst>
          </p:nvPr>
        </p:nvGraphicFramePr>
        <p:xfrm>
          <a:off x="616640" y="2055743"/>
          <a:ext cx="5575872" cy="4226308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3275584">
                  <a:extLst>
                    <a:ext uri="{9D8B030D-6E8A-4147-A177-3AD203B41FA5}">
                      <a16:colId xmlns:a16="http://schemas.microsoft.com/office/drawing/2014/main" val="1808760709"/>
                    </a:ext>
                  </a:extLst>
                </a:gridCol>
                <a:gridCol w="2300288">
                  <a:extLst>
                    <a:ext uri="{9D8B030D-6E8A-4147-A177-3AD203B41FA5}">
                      <a16:colId xmlns:a16="http://schemas.microsoft.com/office/drawing/2014/main" val="901076324"/>
                    </a:ext>
                  </a:extLst>
                </a:gridCol>
              </a:tblGrid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Axial Modulus E11: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45000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757773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Transverse Modulus E22: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12000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9516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In-Plane Shear Modulus G12:</a:t>
                      </a:r>
                    </a:p>
                    <a:p>
                      <a:endParaRPr lang="en-US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5500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13953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Major Poisson’s Ratio v12:</a:t>
                      </a:r>
                    </a:p>
                    <a:p>
                      <a:endParaRPr lang="en-US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Minor Poisson’s Ratio v21: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0.28</a:t>
                      </a:r>
                    </a:p>
                    <a:p>
                      <a:endParaRPr lang="en-US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0.07466667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2999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11A00C-9FC0-680A-86A1-D2FC5A8DA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26858"/>
              </p:ext>
            </p:extLst>
          </p:nvPr>
        </p:nvGraphicFramePr>
        <p:xfrm>
          <a:off x="6962776" y="2055743"/>
          <a:ext cx="4612586" cy="4226308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312298">
                  <a:extLst>
                    <a:ext uri="{9D8B030D-6E8A-4147-A177-3AD203B41FA5}">
                      <a16:colId xmlns:a16="http://schemas.microsoft.com/office/drawing/2014/main" val="1808760709"/>
                    </a:ext>
                  </a:extLst>
                </a:gridCol>
                <a:gridCol w="2300288">
                  <a:extLst>
                    <a:ext uri="{9D8B030D-6E8A-4147-A177-3AD203B41FA5}">
                      <a16:colId xmlns:a16="http://schemas.microsoft.com/office/drawing/2014/main" val="901076324"/>
                    </a:ext>
                  </a:extLst>
                </a:gridCol>
              </a:tblGrid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Stress </a:t>
                      </a:r>
                      <a:r>
                        <a:rPr lang="el-GR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σ</a:t>
                      </a:r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xx: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874 MPa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757773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Stress </a:t>
                      </a:r>
                      <a:r>
                        <a:rPr lang="el-GR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σ</a:t>
                      </a:r>
                      <a:r>
                        <a:rPr lang="en-US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yy</a:t>
                      </a:r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814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9516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Stress </a:t>
                      </a:r>
                      <a:r>
                        <a:rPr lang="el-GR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τ</a:t>
                      </a:r>
                      <a:r>
                        <a:rPr lang="en-US" b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xy</a:t>
                      </a:r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420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13953"/>
                  </a:ext>
                </a:extLst>
              </a:tr>
              <a:tr h="105657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Material Orientation </a:t>
                      </a:r>
                      <a:r>
                        <a:rPr lang="el-GR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Θ</a:t>
                      </a:r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72.6 deg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29993"/>
                  </a:ext>
                </a:extLst>
              </a:tr>
            </a:tbl>
          </a:graphicData>
        </a:graphic>
      </p:graphicFrame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7C30B77-46B4-E6D2-534B-D9C89FD5E837}"/>
              </a:ext>
            </a:extLst>
          </p:cNvPr>
          <p:cNvSpPr txBox="1">
            <a:spLocks/>
          </p:cNvSpPr>
          <p:nvPr/>
        </p:nvSpPr>
        <p:spPr>
          <a:xfrm>
            <a:off x="7879827" y="1199196"/>
            <a:ext cx="2778484" cy="564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 spc="300" baseline="0">
                <a:solidFill>
                  <a:schemeClr val="tx1"/>
                </a:solidFill>
                <a:latin typeface="Gill Sans Nova Light" panose="020B03020201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Applied Stresses (Global Coordinates)</a:t>
            </a:r>
          </a:p>
          <a:p>
            <a:endParaRPr lang="en-US" sz="1600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D599090-3F35-D09E-CB6C-D0AE20122B31}"/>
              </a:ext>
            </a:extLst>
          </p:cNvPr>
          <p:cNvSpPr txBox="1">
            <a:spLocks/>
          </p:cNvSpPr>
          <p:nvPr/>
        </p:nvSpPr>
        <p:spPr>
          <a:xfrm>
            <a:off x="366609" y="1259711"/>
            <a:ext cx="5112648" cy="443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 spc="300" baseline="0">
                <a:solidFill>
                  <a:schemeClr val="tx1"/>
                </a:solidFill>
                <a:latin typeface="Gill Sans Nova Light" panose="020B03020201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Material properties from Table 6:  Elastic Properties of UD Polymer Matrix Composites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A02236-7CD1-67E0-C000-AAE80B1D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7" name="Date Placeholder 5">
            <a:extLst>
              <a:ext uri="{FF2B5EF4-FFF2-40B4-BE49-F238E27FC236}">
                <a16:creationId xmlns:a16="http://schemas.microsoft.com/office/drawing/2014/main" id="{13AB6F80-7310-FA8D-5B4A-1ECC9FB3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48105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2036-9E31-258C-AB0E-8592A1A1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E760-A8E3-F9A4-E241-5644C3AC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/>
              <a:t>Methods OF Analysis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D5FD83-9A24-F711-D310-802BD3E0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0" y="1302306"/>
            <a:ext cx="5479360" cy="3369805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DC3A3-C077-BE91-DA3A-3E96EC0D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A7365D-9090-CF66-A6FD-F393F28A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770" y="1444752"/>
            <a:ext cx="3805313" cy="4562856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D5A1B5-3F2D-D903-AD3E-C04C8851DA24}"/>
              </a:ext>
            </a:extLst>
          </p:cNvPr>
          <p:cNvSpPr txBox="1"/>
          <p:nvPr/>
        </p:nvSpPr>
        <p:spPr>
          <a:xfrm>
            <a:off x="616640" y="4950289"/>
            <a:ext cx="60494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Using the Matrix definitions shown above with the given</a:t>
            </a:r>
          </a:p>
          <a:p>
            <a:pPr algn="ctr"/>
            <a:r>
              <a:rPr lang="en-US" dirty="0"/>
              <a:t>inputs, the stresses and strains can be calculated in two</a:t>
            </a:r>
          </a:p>
          <a:p>
            <a:pPr algn="ctr"/>
            <a:r>
              <a:rPr lang="en-US" dirty="0"/>
              <a:t>different ways shown to the right.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EF9D4F58-F9F8-271E-B75D-FC8804A6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877CF67-F11B-893A-1CB1-0A0B11BA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47430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700"/>
              <a:t>Results of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DFB8-B7A2-DE8A-3E38-FC317061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643" y="1171599"/>
            <a:ext cx="5157787" cy="466344"/>
          </a:xfrm>
        </p:spPr>
        <p:txBody>
          <a:bodyPr anchor="ctr">
            <a:normAutofit/>
          </a:bodyPr>
          <a:lstStyle/>
          <a:p>
            <a:r>
              <a:rPr lang="en-US" dirty="0"/>
              <a:t>Variant 1 results at 72.6 Deg: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58202F-1EE1-B902-337A-71276FC9B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73" y="4074619"/>
            <a:ext cx="9251823" cy="22272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80F476-3A39-E959-7649-CB0531AE1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20" y="1757650"/>
            <a:ext cx="7007728" cy="2197261"/>
          </a:xfrm>
          <a:prstGeom prst="rect">
            <a:avLst/>
          </a:prstGeom>
        </p:spPr>
      </p:pic>
      <p:sp>
        <p:nvSpPr>
          <p:cNvPr id="21" name="Footer Placeholder 6">
            <a:extLst>
              <a:ext uri="{FF2B5EF4-FFF2-40B4-BE49-F238E27FC236}">
                <a16:creationId xmlns:a16="http://schemas.microsoft.com/office/drawing/2014/main" id="{045CECB4-1EA4-5DE9-A42C-30D2ECA2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22" name="Date Placeholder 5">
            <a:extLst>
              <a:ext uri="{FF2B5EF4-FFF2-40B4-BE49-F238E27FC236}">
                <a16:creationId xmlns:a16="http://schemas.microsoft.com/office/drawing/2014/main" id="{D288FD08-667E-B35B-69DB-56A65F1A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316885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6003-3937-C8C8-3FB1-01F09507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5A8EA3-6C9E-D76D-D869-E72139BB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700"/>
              <a:t>Results of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32AA7-D9D5-B49A-6A8C-E4DB4D83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643" y="1171599"/>
            <a:ext cx="5157787" cy="466344"/>
          </a:xfrm>
        </p:spPr>
        <p:txBody>
          <a:bodyPr anchor="ctr">
            <a:normAutofit/>
          </a:bodyPr>
          <a:lstStyle/>
          <a:p>
            <a:r>
              <a:rPr lang="en-US" dirty="0"/>
              <a:t>Variant 2 results at 72.6 Deg: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D92B5A-D870-5159-000F-5FD74B1B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EF194-47B3-1E6E-5DE8-C044231A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5" y="1803702"/>
            <a:ext cx="11706790" cy="1528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81DE5-F37A-3769-0D3D-497D3C9D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05" y="3748736"/>
            <a:ext cx="5518115" cy="15280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3A318-9ED6-48C3-436B-9B12CA9C6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277" y="3812892"/>
            <a:ext cx="5599118" cy="1399779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F71D1ADB-F8A3-6772-6129-35142449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59B6E2F8-28ED-5221-6652-1EA29E96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2275338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4CF7-1EA9-D4D0-5026-7A582852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2F3F-8110-A645-9A21-E2BBF3F5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Results of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8D6AB-85DF-F965-318C-162DA1F1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65508-9428-7B34-C4F6-3B2A7CC834BD}"/>
              </a:ext>
            </a:extLst>
          </p:cNvPr>
          <p:cNvSpPr txBox="1"/>
          <p:nvPr/>
        </p:nvSpPr>
        <p:spPr>
          <a:xfrm>
            <a:off x="2428619" y="2151727"/>
            <a:ext cx="73321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Both Variant 1 and Variant 2 yielded the same results at the specified control angle, demonstrating consistency between the two computational approaches.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909FB8-0B18-C255-998E-1EE76F42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5CA75453-B620-B00A-EB67-4FD0F35B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36072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F08F-E331-AC93-E2AD-730C7728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EEDE-F3DD-1E9F-E0D5-563BC520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Results of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13D4D-7863-B050-6320-B4633EE2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5243A6-ADD3-C963-1828-DAB6BC57F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0" y="1365118"/>
            <a:ext cx="6021904" cy="3564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8D0532-0DBB-5DBB-7628-3ACCEB20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0" y="5093027"/>
            <a:ext cx="5830449" cy="12611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4D74C3-8A98-1315-38C7-A2676A39693A}"/>
              </a:ext>
            </a:extLst>
          </p:cNvPr>
          <p:cNvSpPr txBox="1"/>
          <p:nvPr/>
        </p:nvSpPr>
        <p:spPr>
          <a:xfrm>
            <a:off x="7195024" y="1476276"/>
            <a:ext cx="42349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stresses in the material coordinate system vary significantly with orientation angle θ.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longitudinal stress σ₁₁ reaches its maximum near 45° and minimum at 0° and 90°.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transverse stress σ₂₂ decreases with increasing angle, while the shear stress τ₁₂ changes sign and reaches its largest magnitude near 90°.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behavior reflects the anisotropic stiffness of E-Glass.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E8822BCD-844E-69D9-2CB5-18CAF1C6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6" name="Date Placeholder 5">
            <a:extLst>
              <a:ext uri="{FF2B5EF4-FFF2-40B4-BE49-F238E27FC236}">
                <a16:creationId xmlns:a16="http://schemas.microsoft.com/office/drawing/2014/main" id="{162E79C4-A542-49D7-7F2C-87831EDB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362079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5AA8-DC8E-68BB-FC13-D25D74D8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7069-298E-3B15-FB61-E30E3C1E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Results of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7529-9FED-2A4C-C9E5-E8DE477D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C712F5-51FD-63C1-9D23-E19F5F65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049" y="1170405"/>
            <a:ext cx="6256391" cy="3806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BAAC2B-C9F4-9E7D-5E53-2FBAB7821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019" y="5106262"/>
            <a:ext cx="5716449" cy="1162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C46938-687B-30F7-AACC-9664D0FFC414}"/>
              </a:ext>
            </a:extLst>
          </p:cNvPr>
          <p:cNvSpPr txBox="1"/>
          <p:nvPr/>
        </p:nvSpPr>
        <p:spPr>
          <a:xfrm>
            <a:off x="616640" y="1800296"/>
            <a:ext cx="41916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global strains </a:t>
            </a:r>
            <a:r>
              <a:rPr lang="en-US" dirty="0" err="1"/>
              <a:t>εxx</a:t>
            </a:r>
            <a:r>
              <a:rPr lang="en-US" dirty="0"/>
              <a:t>, </a:t>
            </a:r>
            <a:r>
              <a:rPr lang="en-US" dirty="0" err="1"/>
              <a:t>εyy</a:t>
            </a:r>
            <a:r>
              <a:rPr lang="en-US" dirty="0"/>
              <a:t>, and </a:t>
            </a:r>
            <a:r>
              <a:rPr lang="en-US" dirty="0" err="1"/>
              <a:t>γxy</a:t>
            </a:r>
            <a:r>
              <a:rPr lang="en-US" dirty="0"/>
              <a:t> vary nonlinearly with orientation angle θ.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normal strain </a:t>
            </a:r>
            <a:r>
              <a:rPr lang="en-US" dirty="0" err="1"/>
              <a:t>εxx</a:t>
            </a:r>
            <a:r>
              <a:rPr lang="en-US" dirty="0"/>
              <a:t> increases with angle, while </a:t>
            </a:r>
            <a:r>
              <a:rPr lang="en-US" dirty="0" err="1"/>
              <a:t>εyy</a:t>
            </a:r>
            <a:r>
              <a:rPr lang="en-US" dirty="0"/>
              <a:t> shows a decreasing trend.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shear strain </a:t>
            </a:r>
            <a:r>
              <a:rPr lang="en-US" dirty="0" err="1"/>
              <a:t>γxy</a:t>
            </a:r>
            <a:r>
              <a:rPr lang="en-US" dirty="0"/>
              <a:t> changes sign and reaches its largest magnitude at high angles, indicating strong coupling between normal and shear deformation in anisotropic materials.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A3CA98D1-EFC8-2BAA-154B-C82F6E63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6" name="Date Placeholder 5">
            <a:extLst>
              <a:ext uri="{FF2B5EF4-FFF2-40B4-BE49-F238E27FC236}">
                <a16:creationId xmlns:a16="http://schemas.microsoft.com/office/drawing/2014/main" id="{A933834E-A768-0CF5-7BEE-78C34BA7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62220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67F4-AA06-11DF-79C7-03A5C2DB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2A7A-4F58-9856-4FDE-851F28B2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Results of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F0BC-C9B2-3E04-C4AC-5187DF20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7938CE-8DB0-F042-0B87-A3E1C706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0" y="1309694"/>
            <a:ext cx="6521199" cy="35806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3DB011-6ABA-2316-1F5A-80E242F66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07" y="5146804"/>
            <a:ext cx="5243864" cy="9920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C57C75-99C7-0512-9AA8-80DAEE378D80}"/>
              </a:ext>
            </a:extLst>
          </p:cNvPr>
          <p:cNvSpPr txBox="1"/>
          <p:nvPr/>
        </p:nvSpPr>
        <p:spPr>
          <a:xfrm>
            <a:off x="7933776" y="1384798"/>
            <a:ext cx="34047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material coordinate system, the strain components depend strongly on orientation.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longitudinal strain ε11 increases with angle, while the transverse strain ε22 shows a nonlinear variation.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shear strain γ12 changes sign and magnitude, indicating rotation of the principal strain directions relative to the global axes.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FEB9ABC3-E573-AAA5-F4F5-FABEA244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6E496503-DF62-B53F-D18B-21920DA0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310672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39F0-DFD2-75BC-19C7-7A682A7E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61A0-2E86-EF1B-1DD8-2E6D1DB7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98" y="84012"/>
            <a:ext cx="9190863" cy="969264"/>
          </a:xfrm>
        </p:spPr>
        <p:txBody>
          <a:bodyPr/>
          <a:lstStyle/>
          <a:p>
            <a:r>
              <a:rPr lang="en-US" dirty="0">
                <a:latin typeface="Felix Titling" panose="020F0502020204030204" pitchFamily="34" charset="0"/>
                <a:cs typeface="Felix Titling" panose="020F0502020204030204" pitchFamily="34" charset="0"/>
              </a:rPr>
              <a:t>Results of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5388-8B4B-CA67-A867-7614E70D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3B326-DE3D-52ED-2B36-0046B621EA07}"/>
              </a:ext>
            </a:extLst>
          </p:cNvPr>
          <p:cNvSpPr txBox="1"/>
          <p:nvPr/>
        </p:nvSpPr>
        <p:spPr>
          <a:xfrm>
            <a:off x="616640" y="1264643"/>
            <a:ext cx="109103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stress and strain responses of the E-Glass lamina vary significantly with material orientation due to anisotropic stiffness. Results obtained using Variant 1 and Variant 2 were identical at the control angle (θ = 72.6°), confirming the correctness of both transformation approaches.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 material coordinate stresses and strains exhibit strong directional dependence. The axial (11-direction) response is largest when fibers align closely with the loading direction, while the transverse (22-direction) response dominates when fibers are oriented away from the load. Shear components reach extreme values at intermediate orientations, indicating coupling between normal and shear behavior.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Analysis of the full angular range shows that the optimal orientation depends on the design objective. To minimize normal strain in the fiber direction, orientations near 0° are preferred. To reduce shear effects, orientations closer to 90° are more favorable. These results highlight the importance of selecting fiber orientation to tailor mechanical performance in anisotropic composite materials.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DE4FA2-FF86-3A48-2724-2859C055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F681EAFF-E460-7D58-4B9F-E303B8B6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1959003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398C-8AFB-9AEE-E97C-ACC1C4B8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491B-0C53-8D75-12C6-BA8B9E04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1774" y="4378957"/>
            <a:ext cx="6740957" cy="1645920"/>
          </a:xfrm>
        </p:spPr>
        <p:txBody>
          <a:bodyPr/>
          <a:lstStyle/>
          <a:p>
            <a:r>
              <a:rPr lang="en-US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B85BC-5D91-4DA2-9908-669815C6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889" y="1449428"/>
            <a:ext cx="8165592" cy="2193885"/>
          </a:xfrm>
        </p:spPr>
        <p:txBody>
          <a:bodyPr/>
          <a:lstStyle/>
          <a:p>
            <a:pPr algn="ctr"/>
            <a:r>
              <a:rPr lang="en-US" sz="2000" dirty="0"/>
              <a:t>The results demonstrate that E-Glass exhibits significant anisotropic behavior, with mechanical response strongly dependent on orientation angle θ.</a:t>
            </a:r>
            <a:br>
              <a:rPr lang="en-US" sz="2000" dirty="0"/>
            </a:br>
            <a:r>
              <a:rPr lang="en-US" sz="2000" dirty="0"/>
              <a:t>The agreement between Variant 1 and Variant 2 confirms the validity of the transformation methods used.</a:t>
            </a:r>
            <a:br>
              <a:rPr lang="en-US" sz="2000" dirty="0"/>
            </a:br>
            <a:r>
              <a:rPr lang="en-US" sz="2000" dirty="0"/>
              <a:t>Different stress and strain components reach their extrema at different angles, indicating that no single orientation simultaneously minimizes all responses.</a:t>
            </a:r>
            <a:br>
              <a:rPr lang="en-US" sz="2000" dirty="0"/>
            </a:br>
            <a:r>
              <a:rPr lang="en-US" sz="2000" dirty="0"/>
              <a:t>Therefore, the optimal material orientation depends on the specific performance requirements of the structure.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F944B1-C95B-EC4F-6897-D02BA62B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78DAA7F-E66A-FE04-D757-8A1C6897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42F0D5F2-77FA-B2E4-A3B0-D5D77935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4014795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0D69-7281-5E91-4B26-E2E75920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8787-4CAC-5674-FB53-C75FF50C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sz="3100"/>
              <a:t>Excel file provided as a separate attachment.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4F54AA-5B8A-DC66-9701-AC7F7B54F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669" y="1306206"/>
            <a:ext cx="7889823" cy="4871967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DFA69-F593-FA45-8B75-9F2286D2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FAD3294-7B71-A0EA-715E-A22861C9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r>
              <a:rPr lang="en-US" dirty="0"/>
              <a:t>Anisotropic Stiffness (HW 1): E-Glass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C368038A-1716-27B8-1963-2A4EB456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7177" y="6554323"/>
            <a:ext cx="1696326" cy="219665"/>
          </a:xfrm>
        </p:spPr>
        <p:txBody>
          <a:bodyPr/>
          <a:lstStyle/>
          <a:p>
            <a:r>
              <a:rPr lang="en-US" dirty="0"/>
              <a:t>14:650:449:90</a:t>
            </a:r>
          </a:p>
        </p:txBody>
      </p:sp>
    </p:spTree>
    <p:extLst>
      <p:ext uri="{BB962C8B-B14F-4D97-AF65-F5344CB8AC3E}">
        <p14:creationId xmlns:p14="http://schemas.microsoft.com/office/powerpoint/2010/main" val="71515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9B373E-6FDE-4773-A0C6-CDA9846E30C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BB8FCA9-2C7D-45A4-87C8-02C272E9F4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741A42-9646-4B63-A6BC-7DA2EE5F87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City design</Template>
  <TotalTime>715</TotalTime>
  <Words>827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Avenir Next LT Pro</vt:lpstr>
      <vt:lpstr>Calibri</vt:lpstr>
      <vt:lpstr>Felix Titling</vt:lpstr>
      <vt:lpstr>Gill Sans Nova Light</vt:lpstr>
      <vt:lpstr>Wingdings</vt:lpstr>
      <vt:lpstr>Office Theme</vt:lpstr>
      <vt:lpstr>E-Glass</vt:lpstr>
      <vt:lpstr>Content</vt:lpstr>
      <vt:lpstr>Problem Statement</vt:lpstr>
      <vt:lpstr>Input data - Material: E-Glass</vt:lpstr>
      <vt:lpstr>Methods OF Analysis</vt:lpstr>
      <vt:lpstr>Results of Analysis</vt:lpstr>
      <vt:lpstr>Results of Analysis</vt:lpstr>
      <vt:lpstr>Results of analysis</vt:lpstr>
      <vt:lpstr>Results of analysis</vt:lpstr>
      <vt:lpstr>Results of analysis</vt:lpstr>
      <vt:lpstr>Results of analysis</vt:lpstr>
      <vt:lpstr>Results of analysis</vt:lpstr>
      <vt:lpstr>Conclusion</vt:lpstr>
      <vt:lpstr>Excel file provided as a separate attachment.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Avanthika Vuppala</dc:creator>
  <cp:lastModifiedBy>Avanthika Vuppala</cp:lastModifiedBy>
  <cp:revision>2</cp:revision>
  <dcterms:created xsi:type="dcterms:W3CDTF">2026-02-26T17:59:54Z</dcterms:created>
  <dcterms:modified xsi:type="dcterms:W3CDTF">2026-02-27T05:55:00Z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